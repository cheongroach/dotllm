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2F08C"/>
                </a:solidFill>
                <a:latin typeface="Noto Sans CJK SC"/>
              </a:rPr>
              <a:t>NATIVE .NET LLM SERVING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51560"/>
            <a:ext cx="10789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2F4F6"/>
                </a:solidFill>
                <a:latin typeface="Noto Sans CJK SC"/>
              </a:rPr>
              <a:t>把串行推理引擎升级为
连续批处理 + PagedAttention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7889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A7B0B8"/>
                </a:solidFill>
                <a:latin typeface="Noto Sans CJK SC"/>
              </a:rPr>
              <a:t>不是“加一个队列”，而是重构请求状态、模型批接口、KV 内存布局与 CUDA 执行路径。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2F08C"/>
                </a:solidFill>
                <a:latin typeface="Aptos Display"/>
              </a:rPr>
              <a:t>1.73×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99431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H20 吞吐中位数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41605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64B4FF"/>
                </a:solidFill>
                <a:latin typeface="Aptos Display"/>
              </a:rPr>
              <a:t>4×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4599431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forward 次数下降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41605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2F4F6"/>
                </a:solidFill>
                <a:latin typeface="Aptos Display"/>
              </a:rPr>
              <a:t>1,196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4599431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CPU 单测通过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160520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EFAA17"/>
                </a:solidFill>
                <a:latin typeface="Aptos Display"/>
              </a:rPr>
              <a:t>4,229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4599431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新增代码行（含 PTX）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7B0B8"/>
                </a:solidFill>
                <a:latin typeface="Noto Sans CJK SC"/>
              </a:rPr>
              <a:t>C# / .NET 10 · unmanaged tensors · SIMD · CUDA Driver API · custom 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PROBLEM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问题不是并发请求，而是并发请求仍然串行执行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246120" cy="425196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F87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45336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请求级串行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938528"/>
            <a:ext cx="2916936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一个请求完整生成后，下一请求才进入模型。
GPU decode 每步只有 1 个 token，矩阵乘退化为低算术强度 GEMV。
排队时间直接累积到 TTFT。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246120" cy="425196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545336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内存割裂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938528"/>
            <a:ext cx="2916936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每个请求按最大上下文预留连续 KV。
短请求浪费容量；不同长度请求难以共存；请求结束前空间无法被其他请求复用。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246120" cy="425196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9912" y="1545336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真正目标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938528"/>
            <a:ext cx="2916936" cy="3630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每次迭代动态重组 batch。
共享 QKV / FFN / LM head 计算，但 attention 和 KV 状态必须严格按请求隔离。
取消、流式输出和异常仍要可回收。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DECISION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方案比选：选择“动态调度 + 无 padding + 直接分页读取”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53312"/>
            <a:ext cx="2468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7B0B8"/>
                </a:solidFill>
                <a:latin typeface="Noto Sans CJK SC"/>
              </a:rPr>
              <a:t>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353312"/>
            <a:ext cx="16002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7B0B8"/>
                </a:solidFill>
                <a:latin typeface="Noto Sans CJK SC"/>
              </a:rPr>
              <a:t>动态加入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00600" y="135331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7B0B8"/>
                </a:solidFill>
                <a:latin typeface="Noto Sans CJK SC"/>
              </a:rPr>
              <a:t>计算浪费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1353312"/>
            <a:ext cx="1737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7B0B8"/>
                </a:solidFill>
                <a:latin typeface="Noto Sans CJK SC"/>
              </a:rPr>
              <a:t>KV 利用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58200" y="1353312"/>
            <a:ext cx="30632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7B0B8"/>
                </a:solidFill>
                <a:latin typeface="Noto Sans CJK SC"/>
              </a:rPr>
              <a:t>工程代价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11201400" cy="658368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938528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请求级串行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38528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19385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1938528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1938528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最低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624328"/>
            <a:ext cx="11201400" cy="658368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79776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静态 padded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779776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277977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随长度差增大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779776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779776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65576"/>
            <a:ext cx="11201400" cy="658368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3621024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连续批 + gather KV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3621024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600" y="362102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621024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3621024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2F4F6"/>
                </a:solidFill>
                <a:latin typeface="Noto Sans CJK SC"/>
              </a:rPr>
              <a:t>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4306824"/>
            <a:ext cx="11201400" cy="658368"/>
          </a:xfrm>
          <a:prstGeom prst="roundRect">
            <a:avLst/>
          </a:prstGeom>
          <a:solidFill>
            <a:srgbClr val="262D33"/>
          </a:solidFill>
          <a:ln w="2540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462272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连续批 + direct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4462272"/>
            <a:ext cx="1600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0600" y="446227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4462272"/>
            <a:ext cx="1737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4462272"/>
            <a:ext cx="3063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最高，但可扩展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440680"/>
            <a:ext cx="1097280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2F4F6"/>
                </a:solidFill>
                <a:latin typeface="Noto Sans CJK SC"/>
              </a:rPr>
              <a:t>核心判断：连续批处理解决“什么时候算、和谁一起算”；PagedAttention 解决“历史状态放哪里、如何直接读”。两者缺一，吞吐或容量都会受限。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端到端架构：共享计算，隔离状态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828800" cy="960120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636776"/>
            <a:ext cx="14996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HTTP 请求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29967"/>
            <a:ext cx="149961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普通响应 / SSE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325880"/>
            <a:ext cx="2148840" cy="132588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07792" y="1453895"/>
            <a:ext cx="1819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单 owner Scheduler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1847088"/>
            <a:ext cx="181965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准入 · 取消 · 回收
Decode-first · Chunked prefill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1325880"/>
            <a:ext cx="2148840" cy="132588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13831" y="1453895"/>
            <a:ext cx="1819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Packed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13831" y="1847088"/>
            <a:ext cx="181965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无 padding token rows
共享 QKV / FFN / LM head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325880"/>
            <a:ext cx="2148840" cy="132588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1" y="1453895"/>
            <a:ext cx="1819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分段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1" y="1847088"/>
            <a:ext cx="1819656" cy="7040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每请求独立 causal range
MHA / GQA / MQA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69880" y="1508760"/>
            <a:ext cx="1188720" cy="960120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34472" y="1636776"/>
            <a:ext cx="859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34472" y="2029967"/>
            <a:ext cx="859536" cy="338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RNG / 约束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331720" y="1993392"/>
            <a:ext cx="41148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892040" y="1993392"/>
            <a:ext cx="45720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498079" y="1993392"/>
            <a:ext cx="45720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0104120" y="1993392"/>
            <a:ext cx="36576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743200" y="3337560"/>
            <a:ext cx="2880360" cy="137160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07792" y="3465576"/>
            <a:ext cx="2551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请求状态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07792" y="3858768"/>
            <a:ext cx="255117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Prompt cursor · Generated IDs
Stop/EOS · Timings · Channel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37960" y="3337560"/>
            <a:ext cx="2880360" cy="137160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02552" y="3465576"/>
            <a:ext cx="255117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共享页池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02552" y="3858768"/>
            <a:ext cx="2551176" cy="749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Logical block table → Physical pages
完成/取消后确定性回收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160520" y="2651760"/>
            <a:ext cx="0" cy="685800"/>
          </a:xfrm>
          <a:prstGeom prst="line">
            <a:avLst/>
          </a:prstGeom>
          <a:ln w="25400">
            <a:solidFill>
              <a:srgbClr val="64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8001000" y="2651760"/>
            <a:ext cx="1005840" cy="685800"/>
          </a:xfrm>
          <a:prstGeom prst="line">
            <a:avLst/>
          </a:prstGeom>
          <a:ln w="25400">
            <a:solidFill>
              <a:srgbClr val="64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623560" y="4023360"/>
            <a:ext cx="914400" cy="0"/>
          </a:xfrm>
          <a:prstGeom prst="line">
            <a:avLst/>
          </a:prstGeom>
          <a:ln w="25400">
            <a:solidFill>
              <a:srgbClr val="64B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521208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2F4F6"/>
                </a:solidFill>
                <a:latin typeface="Noto Sans CJK SC"/>
              </a:rPr>
              <a:t>系统不变量：同一模型只有一个计算所有者；一个 cache 只属于一个活跃请求；页在 GPU stream 完成后才允许复用。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SCHEDULER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调度策略：Decode 优先，Prefill 切片，迭代间动态入场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2F08C"/>
                </a:solidFill>
                <a:latin typeface="Noto Sans CJK SC"/>
              </a:rPr>
              <a:t>迭代 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37360" y="1234440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37360" y="13990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A decode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79" y="1234440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69079" y="13990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B decode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234440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990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4B4FF"/>
                </a:solidFill>
                <a:latin typeface="Noto Sans CJK SC"/>
              </a:rPr>
              <a:t>C prefill 32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32519" y="1234440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32519" y="1399032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4B4FF"/>
                </a:solidFill>
                <a:latin typeface="Noto Sans CJK SC"/>
              </a:rPr>
              <a:t>D prefill 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331720"/>
            <a:ext cx="1280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32F08C"/>
                </a:solidFill>
                <a:latin typeface="Noto Sans CJK SC"/>
              </a:rPr>
              <a:t>迭代 N+1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737360" y="2267712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37360" y="24323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32F08C"/>
                </a:solidFill>
                <a:latin typeface="Noto Sans CJK SC"/>
              </a:rPr>
              <a:t>A decode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79" y="2267712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A7B0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79" y="24323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A7B0B8"/>
                </a:solidFill>
                <a:latin typeface="Noto Sans CJK SC"/>
              </a:rPr>
              <a:t>B 完成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2267712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4323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64B4FF"/>
                </a:solidFill>
                <a:latin typeface="Noto Sans CJK SC"/>
              </a:rPr>
              <a:t>C prefill 32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32519" y="2267712"/>
            <a:ext cx="1920240" cy="621792"/>
          </a:xfrm>
          <a:prstGeom prst="roundRect">
            <a:avLst/>
          </a:prstGeom>
          <a:solidFill>
            <a:srgbClr val="1D2328"/>
          </a:solidFill>
          <a:ln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19" y="2432304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EFAA17"/>
                </a:solidFill>
                <a:latin typeface="Noto Sans CJK SC"/>
              </a:rPr>
              <a:t>E 新入场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456432"/>
            <a:ext cx="3291840" cy="1389888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1" y="3584448"/>
            <a:ext cx="2962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为什么 Decode-first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3977639"/>
            <a:ext cx="296265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交互请求最敏感的是 ITL；每个 decoding sequence 先拿 1 个 token slot，剩余预算再给 prefill。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3456432"/>
            <a:ext cx="3291840" cy="1389888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3584448"/>
            <a:ext cx="2962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为什么 Chunked prefill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3977639"/>
            <a:ext cx="296265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长 prompt 不再独占整次 forward；轮转 cursor 避免某个 prompt 长期占满剩余 token budget。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456432"/>
            <a:ext cx="3291840" cy="1389888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3584448"/>
            <a:ext cx="29626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为什么保守预留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3977639"/>
            <a:ext cx="2962656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准入时按 worst-case context 预留逻辑页，换取运行期不会因为增长抢页失败；代价是并发上限偏保守。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MEMORY AND KERNEL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PagedAttention：不再把历史 KV 搬回连续缓冲区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请求 A 的逻辑页表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530352" cy="53035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65376"/>
            <a:ext cx="2011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P0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52728" y="1737360"/>
            <a:ext cx="530352" cy="53035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865376"/>
            <a:ext cx="2011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P3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11095" y="1737360"/>
            <a:ext cx="530352" cy="530352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1865376"/>
            <a:ext cx="2011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2F08C"/>
                </a:solidFill>
                <a:latin typeface="Noto Sans CJK SC"/>
              </a:rPr>
              <a:t>P1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9464" y="1737360"/>
            <a:ext cx="530352" cy="53035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4056" y="1865376"/>
            <a:ext cx="2011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P6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87168"/>
            <a:ext cx="25603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6"/>
                </a:solidFill>
                <a:latin typeface="JetBrains Mono"/>
              </a:rPr>
              <a:t>token t → table[t/B] → physical page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1325880"/>
            <a:ext cx="3200400" cy="196596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67911" y="1453895"/>
            <a:ext cx="28712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直接分页读取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67911" y="1847088"/>
            <a:ext cx="2871216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1. 新 K/V scatter 到物理页
2. Q 常驻 shared memory
3. KV 按 tile 扫描
4. FP32 online softmax
5. 不构造完整 score matrix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325880"/>
            <a:ext cx="4069080" cy="196596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F87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16952" y="1453895"/>
            <a:ext cx="37398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被消除的路径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1847088"/>
            <a:ext cx="3739896" cy="1344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旧路径每层、每步都执行：
page table → gather K → gather V → contiguous attention
新路径只保留页表索引开销，避免 O(context × KV width) 搬运。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46120" y="1993392"/>
            <a:ext cx="45720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3977639"/>
            <a:ext cx="3246120" cy="1298448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105655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CPU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498848"/>
            <a:ext cx="2916936" cy="6766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Float32 物理页
TensorPrimitives dot / multiply-add
线程池按 attention head 分片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977639"/>
            <a:ext cx="3246120" cy="1298448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45152" y="4105655"/>
            <a:ext cx="29169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CUDA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4498848"/>
            <a:ext cx="2916936" cy="6766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Float16 页池 + device block table
自定义 scatter + paged_attention PTX
FP32 累积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66760" y="3977639"/>
            <a:ext cx="3154680" cy="1298448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1352" y="4105655"/>
            <a:ext cx="28254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数值约束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1352" y="4498848"/>
            <a:ext cx="2825496" cy="6766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MHA / GQA / MQA
causal + sliding window
跨页、非连续页、&gt;256 tile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ENGINEERING JUDGMENT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关键决策不是“怎么写”，而是“哪些复杂度值得引入”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72184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并发控制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4519" y="1325880"/>
            <a:ext cx="2331720" cy="62179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39112" y="1453895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每请求锁 / 多 worker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325880"/>
            <a:ext cx="2331720" cy="621792"/>
          </a:xfrm>
          <a:prstGeom prst="roundRect">
            <a:avLst/>
          </a:prstGeom>
          <a:solidFill>
            <a:srgbClr val="262D33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0872" y="1453895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2F08C"/>
                </a:solidFill>
                <a:latin typeface="Noto Sans CJK SC"/>
              </a:rPr>
              <a:t>单计算 owner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06240" y="1636776"/>
            <a:ext cx="32004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178040" y="1408176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6"/>
                </a:solidFill>
                <a:latin typeface="Noto Sans CJK SC"/>
              </a:rPr>
              <a:t>消除模型 scratch 与页表并发写竞态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04872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Batch 形态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74519" y="2258568"/>
            <a:ext cx="2331720" cy="62179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39112" y="2386584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padding 到最大长度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258568"/>
            <a:ext cx="2331720" cy="621792"/>
          </a:xfrm>
          <a:prstGeom prst="roundRect">
            <a:avLst/>
          </a:prstGeom>
          <a:solidFill>
            <a:srgbClr val="262D33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90872" y="2386584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2F08C"/>
                </a:solidFill>
                <a:latin typeface="Noto Sans CJK SC"/>
              </a:rPr>
              <a:t>packed segments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06240" y="2569463"/>
            <a:ext cx="32004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178040" y="2340863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6"/>
                </a:solidFill>
                <a:latin typeface="Noto Sans CJK SC"/>
              </a:rPr>
              <a:t>避免长度差导致无效 token 计算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337560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KV 读取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74519" y="3191256"/>
            <a:ext cx="2331720" cy="62179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39112" y="3319272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每步 gather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191256"/>
            <a:ext cx="2331720" cy="621792"/>
          </a:xfrm>
          <a:prstGeom prst="roundRect">
            <a:avLst/>
          </a:prstGeom>
          <a:solidFill>
            <a:srgbClr val="262D33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90872" y="3319272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2F08C"/>
                </a:solidFill>
                <a:latin typeface="Noto Sans CJK SC"/>
              </a:rPr>
              <a:t>页表直接读取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206240" y="3502152"/>
            <a:ext cx="32004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178040" y="3273552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6"/>
                </a:solidFill>
                <a:latin typeface="Noto Sans CJK SC"/>
              </a:rPr>
              <a:t>用索引换带宽，长上下文收益更明显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270248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Softmax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74519" y="4123944"/>
            <a:ext cx="2331720" cy="62179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39112" y="4251959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完整 score matrix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26280" y="4123944"/>
            <a:ext cx="2331720" cy="621792"/>
          </a:xfrm>
          <a:prstGeom prst="roundRect">
            <a:avLst/>
          </a:prstGeom>
          <a:solidFill>
            <a:srgbClr val="262D33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90872" y="4251959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2F08C"/>
                </a:solidFill>
                <a:latin typeface="Noto Sans CJK SC"/>
              </a:rPr>
              <a:t>tiled online softmax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206240" y="4434840"/>
            <a:ext cx="32004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78040" y="4206240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6"/>
                </a:solidFill>
                <a:latin typeface="Noto Sans CJK SC"/>
              </a:rPr>
              <a:t>共享内存与上下文长度解耦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02936"/>
            <a:ext cx="1234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背压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74519" y="5056632"/>
            <a:ext cx="2331720" cy="621792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39112" y="5184648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2F4F6"/>
                </a:solidFill>
                <a:latin typeface="Noto Sans CJK SC"/>
              </a:rPr>
              <a:t>无限 channel / 阻塞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26280" y="5056632"/>
            <a:ext cx="2331720" cy="621792"/>
          </a:xfrm>
          <a:prstGeom prst="roundRect">
            <a:avLst/>
          </a:prstGeom>
          <a:solidFill>
            <a:srgbClr val="262D33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5184648"/>
            <a:ext cx="200253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32F08C"/>
                </a:solidFill>
                <a:latin typeface="Noto Sans CJK SC"/>
              </a:rPr>
              <a:t>bounded + fail one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06240" y="5367528"/>
            <a:ext cx="32004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178040" y="5138928"/>
            <a:ext cx="43434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F2F4F6"/>
                </a:solidFill>
                <a:latin typeface="Noto Sans CJK SC"/>
              </a:rPr>
              <a:t>慢客户端不拖住整个 batch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H20 实测：吞吐提升来自更少的 forward，而不是口号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A7B0B8"/>
                </a:solidFill>
                <a:latin typeface="Aptos Display"/>
              </a:rPr>
              <a:t>347.70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1 active · token/s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32588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2F08C"/>
                </a:solidFill>
                <a:latin typeface="Aptos Display"/>
              </a:rPr>
              <a:t>600.75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764792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4 active · token/s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32588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32F08C"/>
                </a:solidFill>
                <a:latin typeface="Aptos Display"/>
              </a:rPr>
              <a:t>1.73×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764792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吞吐提升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1325880"/>
            <a:ext cx="2240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64B4FF"/>
                </a:solidFill>
                <a:latin typeface="Aptos Display"/>
              </a:rPr>
              <a:t>2048 → 513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764792"/>
            <a:ext cx="2240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forward 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1325880"/>
            <a:ext cx="1737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2F4F6"/>
                </a:solidFill>
                <a:latin typeface="Aptos Display"/>
              </a:rPr>
              <a:t>3 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0" y="176479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7B0B8"/>
                </a:solidFill>
                <a:latin typeface="Noto Sans CJK SC"/>
              </a:rPr>
              <a:t>稳定复验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487168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7B0B8"/>
                </a:solidFill>
                <a:latin typeface="Noto Sans CJK SC"/>
              </a:rPr>
              <a:t>Throughput (token/s)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99923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  <a:latin typeface="Noto Sans CJK SC"/>
              </a:rPr>
              <a:t>1 active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91640" y="2926080"/>
            <a:ext cx="2298928" cy="457200"/>
          </a:xfrm>
          <a:prstGeom prst="rect">
            <a:avLst/>
          </a:prstGeom>
          <a:solidFill>
            <a:srgbClr val="A7B0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9992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A7B0B8"/>
                </a:solidFill>
                <a:latin typeface="Noto Sans CJK SC"/>
              </a:rPr>
              <a:t>347.70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730752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2F4F6"/>
                </a:solidFill>
                <a:latin typeface="Noto Sans CJK SC"/>
              </a:rPr>
              <a:t>4 active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91640" y="3657600"/>
            <a:ext cx="3972048" cy="457200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7307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2F08C"/>
                </a:solidFill>
                <a:latin typeface="Noto Sans CJK SC"/>
              </a:rPr>
              <a:t>600.75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2487168"/>
            <a:ext cx="4160520" cy="1993392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2615184"/>
            <a:ext cx="383133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必须同时讲代价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5512" y="3008376"/>
            <a:ext cx="383133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TTFT p50：2763.91 → 1284.46 ms
ITL p50：2.87 → 6.70 ms
吞吐和排队延迟改善，但单请求 token 间隔变大。这是服务目标函数的权衡，不应隐藏。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74920"/>
            <a:ext cx="1069848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2F4F6"/>
                </a:solidFill>
                <a:latin typeface="Noto Sans CJK SC"/>
              </a:rPr>
              <a:t>正确性：1196 CPU 单测 + 4 个真实模型集成测试；H20 上 4 组分页内核对 double 标量参考，真实模型 serial / batched token IDs 完全一致。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REVIEW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自我 Review：当前版本能证明方向，但还不宜直接标“生产就绪”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90472"/>
            <a:ext cx="685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454"/>
                </a:solidFill>
                <a:latin typeface="Noto Sans CJK SC"/>
              </a:rPr>
              <a:t>P1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17320" y="1325880"/>
            <a:ext cx="3063240" cy="786384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F87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81912" y="1453895"/>
            <a:ext cx="27340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4F6"/>
                </a:solidFill>
                <a:latin typeface="Noto Sans CJK SC"/>
              </a:rPr>
              <a:t>默认 CUDA 页池过大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435607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4F6"/>
                </a:solidFill>
                <a:latin typeface="Noto Sans CJK SC"/>
              </a:rPr>
              <a:t>65,536 slots 会为 7B 典型配置预占约 8 GiB KV 显存。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69464"/>
            <a:ext cx="685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87454"/>
                </a:solidFill>
                <a:latin typeface="Noto Sans CJK SC"/>
              </a:rPr>
              <a:t>P1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2404872"/>
            <a:ext cx="3063240" cy="786384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F87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532888"/>
            <a:ext cx="27340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4F6"/>
                </a:solidFill>
                <a:latin typeface="Noto Sans CJK SC"/>
              </a:rPr>
              <a:t>CUDA prefix cache 不兼容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514600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4F6"/>
                </a:solidFill>
                <a:latin typeface="Noto Sans CJK SC"/>
              </a:rPr>
              <a:t>缓存会被保留却无法命中复用，有限页池可能被耗尽。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48456"/>
            <a:ext cx="685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AA17"/>
                </a:solidFill>
                <a:latin typeface="Noto Sans CJK SC"/>
              </a:rPr>
              <a:t>P1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483863"/>
            <a:ext cx="3063240" cy="786384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81912" y="3611879"/>
            <a:ext cx="27340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4F6"/>
                </a:solidFill>
                <a:latin typeface="Noto Sans CJK SC"/>
              </a:rPr>
              <a:t>量化 decode 路径有拐点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593591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4F6"/>
                </a:solidFill>
                <a:latin typeface="Noto Sans CJK SC"/>
              </a:rPr>
              <a:t>batch&gt;1 每步全量反量化权重再 GEMM，小 batch 可能倒退。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27448"/>
            <a:ext cx="685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FAA17"/>
                </a:solidFill>
                <a:latin typeface="Noto Sans CJK SC"/>
              </a:rPr>
              <a:t>P2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562856"/>
            <a:ext cx="3063240" cy="786384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81912" y="4690872"/>
            <a:ext cx="273405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F2F4F6"/>
                </a:solidFill>
                <a:latin typeface="Noto Sans CJK SC"/>
              </a:rPr>
              <a:t>Sliding window 差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672584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2F4F6"/>
                </a:solidFill>
                <a:latin typeface="Noto Sans CJK SC"/>
              </a:rPr>
              <a:t>paged CUDA 使用 W 个 token；旧 CUDA 路径使用 W+1。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742432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32F08C"/>
                </a:solidFill>
                <a:latin typeface="Noto Sans CJK SC"/>
              </a:rPr>
              <a:t>面试价值：不仅实现 happy path，也能指出规模化后的资源模型、兼容性边界和性能拐点。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开源落地策略：把大实现拆成可审、可测、可回滚的增量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3258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2F08C"/>
                </a:solidFill>
                <a:latin typeface="Noto Sans CJK SC"/>
              </a:rPr>
              <a:t>PR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64208"/>
            <a:ext cx="2514600" cy="192024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92224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CPU direct 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185416"/>
            <a:ext cx="2185416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接口 + scalar parity + 长上下文 benchmark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108960" y="2633472"/>
            <a:ext cx="36576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474720" y="13258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2F08C"/>
                </a:solidFill>
                <a:latin typeface="Noto Sans CJK SC"/>
              </a:rPr>
              <a:t>PR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664208"/>
            <a:ext cx="2514600" cy="1920240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1792224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CUDA paged KV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9312" y="2185416"/>
            <a:ext cx="2185416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页池 + PTX + H20 数值验证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89320" y="2633472"/>
            <a:ext cx="365759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55080" y="13258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2F08C"/>
                </a:solidFill>
                <a:latin typeface="Noto Sans CJK SC"/>
              </a:rPr>
              <a:t>PR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80" y="1664208"/>
            <a:ext cx="2514600" cy="1920240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1792224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Packed model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9672" y="2185416"/>
            <a:ext cx="2185416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CPU/CUDA last-row logits 与请求隔离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69680" y="2633472"/>
            <a:ext cx="365760" cy="0"/>
          </a:xfrm>
          <a:prstGeom prst="line">
            <a:avLst/>
          </a:prstGeom>
          <a:ln w="25400">
            <a:solidFill>
              <a:srgbClr val="32F0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235440" y="1325880"/>
            <a:ext cx="2560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32F08C"/>
                </a:solidFill>
                <a:latin typeface="Noto Sans CJK SC"/>
              </a:rPr>
              <a:t>PR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664208"/>
            <a:ext cx="2514600" cy="1920240"/>
          </a:xfrm>
          <a:prstGeom prst="roundRect">
            <a:avLst/>
          </a:prstGeom>
          <a:solidFill>
            <a:srgbClr val="1D2328"/>
          </a:solidFill>
          <a:ln w="12700">
            <a:solidFill>
              <a:srgbClr val="424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00032" y="1792224"/>
            <a:ext cx="21854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Scheduler +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00032" y="2185416"/>
            <a:ext cx="2185416" cy="1298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状态机、SSE、取消、热切换与负载基准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4160520"/>
            <a:ext cx="3383280" cy="1170432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428853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Issue 对齐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681728"/>
            <a:ext cx="30540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#256 只覆盖 scheduler MVP；本实现应新开设计 issue，并用 Related to #256。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07408" y="4160520"/>
            <a:ext cx="3383280" cy="1170432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28853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风险隔离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81728"/>
            <a:ext cx="30540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ComputeThreadPool 首次 dispatch 竞态应独立 PR，避免功能 PR 混入无关修复。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0456" y="4160520"/>
            <a:ext cx="3383280" cy="1170432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8" y="4288536"/>
            <a:ext cx="305409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证据随 PR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8" y="4681728"/>
            <a:ext cx="305409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附 workload、模型、GPU、三轮分布和反例；不只给单点加速数字。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dotLLM / Native .NET inference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32F08C"/>
                </a:solidFill>
                <a:latin typeface="Noto Sans CJK SC"/>
              </a:rPr>
              <a:t>INTERVIEW NARRATIVE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1556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2F4F6"/>
                </a:solidFill>
                <a:latin typeface="Noto Sans CJK SC"/>
              </a:rPr>
              <a:t>面试表达：从目标函数、系统不变量、取舍和证据讲价值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097280" cy="36576"/>
          </a:xfrm>
          <a:prstGeom prst="rect">
            <a:avLst/>
          </a:prstGeom>
          <a:solidFill>
            <a:srgbClr val="32F0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452628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32F0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453895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32F08C"/>
                </a:solidFill>
                <a:latin typeface="Noto Sans CJK SC"/>
              </a:rPr>
              <a:t>60 秒主线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3099816" cy="390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我在一个原生 .NET 推理引擎里，把请求级串行执行升级为 iteration-level continuous batching。
难点不在队列，而在让多个请求共享模型投影计算，同时保持 attention、KV、采样器、约束和流式生命周期隔离。
我抽象 packed forward，设计单 owner scheduler，并在 CPU/CUDA 两端实现 direct PagedAttention。
H20 三轮实测吞吐提升 1.73×，同时量化了 ITL 代价并识别了默认显存与量化路径的上线风险。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452628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453895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追问时展开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847088"/>
            <a:ext cx="3099816" cy="390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为什么不用静态 batch？
为什么 decode 优先？
为什么预留 worst-case 页？
为什么 online softmax？
为什么 single owner？
怎么证明没有跨请求污染？
为什么 512-token CPU 反而慢？
量化 CUDA 的性能拐点在哪？
如何把 43 文件拆成可合并 PR？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79" y="1325880"/>
            <a:ext cx="3429000" cy="4526280"/>
          </a:xfrm>
          <a:prstGeom prst="roundRect">
            <a:avLst/>
          </a:prstGeom>
          <a:solidFill>
            <a:srgbClr val="1D2328"/>
          </a:solidFill>
          <a:ln w="19050">
            <a:solidFill>
              <a:srgbClr val="EFAA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1" y="1453895"/>
            <a:ext cx="3099816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F2F4F6"/>
                </a:solidFill>
                <a:latin typeface="Noto Sans CJK SC"/>
              </a:rPr>
              <a:t>你的独特价值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1" y="1847088"/>
            <a:ext cx="3099816" cy="3904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7B0B8"/>
                </a:solidFill>
                <a:latin typeface="Noto Sans CJK SC"/>
              </a:rPr>
              <a:t>跨越 API、调度器、模型前向、内存管理和 CUDA kernel 五层。
不仅实现功能，还建立状态与资源不变量。
用 scalar reference、真实模型 token parity、异常回收和 H20 benchmark 闭环验证。
主动暴露反例和边界，说明你在做系统工程，而不是拼接代码。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7B0B8"/>
                </a:solidFill>
                <a:latin typeface="Noto Sans CJK SC"/>
              </a:rPr>
              <a:t>面试时先讲问题和决策，再讲代码；指标最后出现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18520" y="6473952"/>
            <a:ext cx="6400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A7B0B8"/>
                </a:solidFill>
                <a:latin typeface="Noto Sans CJK SC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